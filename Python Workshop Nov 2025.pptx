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4"/>
  </p:sldMasterIdLst>
  <p:notesMasterIdLst>
    <p:notesMasterId r:id="rId16"/>
  </p:notesMasterIdLst>
  <p:sldIdLst>
    <p:sldId id="256" r:id="rId5"/>
    <p:sldId id="257" r:id="rId6"/>
    <p:sldId id="259" r:id="rId7"/>
    <p:sldId id="262" r:id="rId8"/>
    <p:sldId id="263" r:id="rId9"/>
    <p:sldId id="264" r:id="rId10"/>
    <p:sldId id="266" r:id="rId11"/>
    <p:sldId id="261" r:id="rId12"/>
    <p:sldId id="260" r:id="rId13"/>
    <p:sldId id="265" r:id="rId14"/>
    <p:sldId id="25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90BA890-5839-4F9B-8CB8-2ED5F0D07BD4}">
          <p14:sldIdLst>
            <p14:sldId id="256"/>
            <p14:sldId id="257"/>
          </p14:sldIdLst>
        </p14:section>
        <p14:section name="Setting Up your IDE" id="{7BF15C87-A993-4819-A376-E4B6912FA1D3}">
          <p14:sldIdLst>
            <p14:sldId id="259"/>
            <p14:sldId id="262"/>
          </p14:sldIdLst>
        </p14:section>
        <p14:section name="Python Fundamentals" id="{A3EA1011-346A-49E3-B922-9836F24B37A4}">
          <p14:sldIdLst>
            <p14:sldId id="263"/>
            <p14:sldId id="264"/>
            <p14:sldId id="266"/>
            <p14:sldId id="261"/>
          </p14:sldIdLst>
        </p14:section>
        <p14:section name="Outro" id="{76ECCB47-CB7D-4935-B318-BEE77AEE4C73}">
          <p14:sldIdLst>
            <p14:sldId id="260"/>
            <p14:sldId id="265"/>
            <p14:sldId id="25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9FA1DB-91E9-4527-9EC2-A502E806C001}" v="51" dt="2025-11-26T06:07:14.3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0" d="100"/>
          <a:sy n="70" d="100"/>
        </p:scale>
        <p:origin x="84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041FBF-32FC-4FDA-814C-9135B1B3E544}" type="datetimeFigureOut">
              <a:rPr lang="en-GB" smtClean="0"/>
              <a:t>26/11/2025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172D70-F586-4551-BF18-8F2D950CEF77}" type="slidenum">
              <a:rPr lang="en-GB" smtClean="0"/>
              <a:t>‹#›</a:t>
            </a:fld>
            <a:endParaRPr lang="en-GB" dirty="0"/>
          </a:p>
        </p:txBody>
      </p:sp>
    </p:spTree>
    <p:extLst>
      <p:ext uri="{BB962C8B-B14F-4D97-AF65-F5344CB8AC3E}">
        <p14:creationId xmlns:p14="http://schemas.microsoft.com/office/powerpoint/2010/main" val="2124401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1172D70-F586-4551-BF18-8F2D950CEF77}" type="slidenum">
              <a:rPr lang="en-GB" smtClean="0"/>
              <a:t>1</a:t>
            </a:fld>
            <a:endParaRPr lang="en-GB" dirty="0"/>
          </a:p>
        </p:txBody>
      </p:sp>
    </p:spTree>
    <p:extLst>
      <p:ext uri="{BB962C8B-B14F-4D97-AF65-F5344CB8AC3E}">
        <p14:creationId xmlns:p14="http://schemas.microsoft.com/office/powerpoint/2010/main" val="21907399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80C50CD-E178-4744-9B35-B2F624D6C5E9}" type="datetimeFigureOut">
              <a:rPr lang="en-US" smtClean="0"/>
              <a:t>11/26/2025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dirty="0"/>
          </a:p>
        </p:txBody>
      </p:sp>
    </p:spTree>
    <p:extLst>
      <p:ext uri="{BB962C8B-B14F-4D97-AF65-F5344CB8AC3E}">
        <p14:creationId xmlns:p14="http://schemas.microsoft.com/office/powerpoint/2010/main" val="2432395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0C50CD-E178-4744-9B35-B2F624D6C5E9}" type="datetimeFigureOut">
              <a:rPr lang="en-US" smtClean="0"/>
              <a:t>11/26/2025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dirty="0"/>
          </a:p>
        </p:txBody>
      </p:sp>
    </p:spTree>
    <p:extLst>
      <p:ext uri="{BB962C8B-B14F-4D97-AF65-F5344CB8AC3E}">
        <p14:creationId xmlns:p14="http://schemas.microsoft.com/office/powerpoint/2010/main" val="474704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C50CD-E178-4744-9B35-B2F624D6C5E9}" type="datetimeFigureOut">
              <a:rPr lang="en-US" smtClean="0"/>
              <a:t>11/26/2025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dirty="0"/>
          </a:p>
        </p:txBody>
      </p:sp>
    </p:spTree>
    <p:extLst>
      <p:ext uri="{BB962C8B-B14F-4D97-AF65-F5344CB8AC3E}">
        <p14:creationId xmlns:p14="http://schemas.microsoft.com/office/powerpoint/2010/main" val="826725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80C50CD-E178-4744-9B35-B2F624D6C5E9}" type="datetimeFigureOut">
              <a:rPr lang="en-US" smtClean="0"/>
              <a:t>11/26/2025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48CC95F-0247-41B6-91CF-DC97C76A7088}" type="slidenum">
              <a:rPr lang="en-US" smtClean="0"/>
              <a:t>‹#›</a:t>
            </a:fld>
            <a:endParaRPr lang="en-US" dirty="0"/>
          </a:p>
        </p:txBody>
      </p:sp>
    </p:spTree>
    <p:extLst>
      <p:ext uri="{BB962C8B-B14F-4D97-AF65-F5344CB8AC3E}">
        <p14:creationId xmlns:p14="http://schemas.microsoft.com/office/powerpoint/2010/main" val="3732621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80C50CD-E178-4744-9B35-B2F624D6C5E9}" type="datetimeFigureOut">
              <a:rPr lang="en-US" smtClean="0"/>
              <a:t>11/26/2025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48CC95F-0247-41B6-91CF-DC97C76A7088}" type="slidenum">
              <a:rPr lang="en-US" smtClean="0"/>
              <a:t>‹#›</a:t>
            </a:fld>
            <a:endParaRPr lang="en-US" dirty="0"/>
          </a:p>
        </p:txBody>
      </p:sp>
    </p:spTree>
    <p:extLst>
      <p:ext uri="{BB962C8B-B14F-4D97-AF65-F5344CB8AC3E}">
        <p14:creationId xmlns:p14="http://schemas.microsoft.com/office/powerpoint/2010/main" val="42570378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80C50CD-E178-4744-9B35-B2F624D6C5E9}" type="datetimeFigureOut">
              <a:rPr lang="en-US" smtClean="0"/>
              <a:t>11/26/2025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48CC95F-0247-41B6-91CF-DC97C76A7088}" type="slidenum">
              <a:rPr lang="en-US" smtClean="0"/>
              <a:t>‹#›</a:t>
            </a:fld>
            <a:endParaRPr lang="en-US" dirty="0"/>
          </a:p>
        </p:txBody>
      </p:sp>
    </p:spTree>
    <p:extLst>
      <p:ext uri="{BB962C8B-B14F-4D97-AF65-F5344CB8AC3E}">
        <p14:creationId xmlns:p14="http://schemas.microsoft.com/office/powerpoint/2010/main" val="3038895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0C50CD-E178-4744-9B35-B2F624D6C5E9}" type="datetimeFigureOut">
              <a:rPr lang="en-US" smtClean="0"/>
              <a:t>11/26/2025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48CC95F-0247-41B6-91CF-DC97C76A7088}" type="slidenum">
              <a:rPr lang="en-US" smtClean="0"/>
              <a:t>‹#›</a:t>
            </a:fld>
            <a:endParaRPr lang="en-US" dirty="0"/>
          </a:p>
        </p:txBody>
      </p:sp>
    </p:spTree>
    <p:extLst>
      <p:ext uri="{BB962C8B-B14F-4D97-AF65-F5344CB8AC3E}">
        <p14:creationId xmlns:p14="http://schemas.microsoft.com/office/powerpoint/2010/main" val="1255598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0C50CD-E178-4744-9B35-B2F624D6C5E9}" type="datetimeFigureOut">
              <a:rPr lang="en-US" smtClean="0"/>
              <a:t>11/26/2025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48CC95F-0247-41B6-91CF-DC97C76A7088}" type="slidenum">
              <a:rPr lang="en-US" smtClean="0"/>
              <a:t>‹#›</a:t>
            </a:fld>
            <a:endParaRPr lang="en-US" dirty="0"/>
          </a:p>
        </p:txBody>
      </p:sp>
    </p:spTree>
    <p:extLst>
      <p:ext uri="{BB962C8B-B14F-4D97-AF65-F5344CB8AC3E}">
        <p14:creationId xmlns:p14="http://schemas.microsoft.com/office/powerpoint/2010/main" val="5070027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0C50CD-E178-4744-9B35-B2F624D6C5E9}" type="datetimeFigureOut">
              <a:rPr lang="en-US" smtClean="0"/>
              <a:t>11/26/2025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48CC95F-0247-41B6-91CF-DC97C76A7088}" type="slidenum">
              <a:rPr lang="en-US" smtClean="0"/>
              <a:t>‹#›</a:t>
            </a:fld>
            <a:endParaRPr lang="en-US" dirty="0"/>
          </a:p>
        </p:txBody>
      </p:sp>
    </p:spTree>
    <p:extLst>
      <p:ext uri="{BB962C8B-B14F-4D97-AF65-F5344CB8AC3E}">
        <p14:creationId xmlns:p14="http://schemas.microsoft.com/office/powerpoint/2010/main" val="149603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C50CD-E178-4744-9B35-B2F624D6C5E9}" type="datetimeFigureOut">
              <a:rPr lang="en-US" smtClean="0"/>
              <a:pPr/>
              <a:t>11/26/2025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dirty="0"/>
          </a:p>
        </p:txBody>
      </p:sp>
    </p:spTree>
    <p:extLst>
      <p:ext uri="{BB962C8B-B14F-4D97-AF65-F5344CB8AC3E}">
        <p14:creationId xmlns:p14="http://schemas.microsoft.com/office/powerpoint/2010/main" val="2079562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C50CD-E178-4744-9B35-B2F624D6C5E9}" type="datetimeFigureOut">
              <a:rPr lang="en-US" smtClean="0"/>
              <a:pPr/>
              <a:t>11/26/2025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8746239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C50CD-E178-4744-9B35-B2F624D6C5E9}" type="datetimeFigureOut">
              <a:rPr lang="en-US" smtClean="0"/>
              <a:pPr/>
              <a:t>11/26/2025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dirty="0"/>
          </a:p>
        </p:txBody>
      </p:sp>
    </p:spTree>
    <p:extLst>
      <p:ext uri="{BB962C8B-B14F-4D97-AF65-F5344CB8AC3E}">
        <p14:creationId xmlns:p14="http://schemas.microsoft.com/office/powerpoint/2010/main" val="21380664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C50CD-E178-4744-9B35-B2F624D6C5E9}" type="datetimeFigureOut">
              <a:rPr lang="en-US" smtClean="0"/>
              <a:pPr/>
              <a:t>11/26/2025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0592421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C50CD-E178-4744-9B35-B2F624D6C5E9}" type="datetimeFigureOut">
              <a:rPr lang="en-US" smtClean="0"/>
              <a:pPr/>
              <a:t>11/26/2025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dirty="0"/>
          </a:p>
        </p:txBody>
      </p:sp>
    </p:spTree>
    <p:extLst>
      <p:ext uri="{BB962C8B-B14F-4D97-AF65-F5344CB8AC3E}">
        <p14:creationId xmlns:p14="http://schemas.microsoft.com/office/powerpoint/2010/main" val="16737091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0C50CD-E178-4744-9B35-B2F624D6C5E9}" type="datetimeFigureOut">
              <a:rPr lang="en-US" smtClean="0"/>
              <a:t>11/26/2025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dirty="0"/>
          </a:p>
        </p:txBody>
      </p:sp>
    </p:spTree>
    <p:extLst>
      <p:ext uri="{BB962C8B-B14F-4D97-AF65-F5344CB8AC3E}">
        <p14:creationId xmlns:p14="http://schemas.microsoft.com/office/powerpoint/2010/main" val="11360463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0C50CD-E178-4744-9B35-B2F624D6C5E9}" type="datetimeFigureOut">
              <a:rPr lang="en-US" smtClean="0"/>
              <a:t>11/26/2025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dirty="0"/>
          </a:p>
        </p:txBody>
      </p:sp>
    </p:spTree>
    <p:extLst>
      <p:ext uri="{BB962C8B-B14F-4D97-AF65-F5344CB8AC3E}">
        <p14:creationId xmlns:p14="http://schemas.microsoft.com/office/powerpoint/2010/main" val="99211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80C50CD-E178-4744-9B35-B2F624D6C5E9}" type="datetimeFigureOut">
              <a:rPr lang="en-US" smtClean="0"/>
              <a:pPr/>
              <a:t>11/26/2025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48CC95F-0247-41B6-91CF-DC97C76A7088}" type="slidenum">
              <a:rPr lang="en-US" smtClean="0"/>
              <a:pPr/>
              <a:t>‹#›</a:t>
            </a:fld>
            <a:endParaRPr lang="en-US" dirty="0"/>
          </a:p>
        </p:txBody>
      </p:sp>
    </p:spTree>
    <p:extLst>
      <p:ext uri="{BB962C8B-B14F-4D97-AF65-F5344CB8AC3E}">
        <p14:creationId xmlns:p14="http://schemas.microsoft.com/office/powerpoint/2010/main" val="401770455"/>
      </p:ext>
    </p:extLst>
  </p:cSld>
  <p:clrMap bg1="dk1" tx1="lt1" bg2="dk2" tx2="lt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 id="214748373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python.org/downloads/" TargetMode="External"/><Relationship Id="rId2" Type="http://schemas.openxmlformats.org/officeDocument/2006/relationships/hyperlink" Target="https://code.visualstudio.com/download" TargetMode="Externa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NTUDevSoc/FYPythonWorkshop_26.11.2025"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NTUDevSoc/FYPythonWorkshop_26.11.2025"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w3schools.com/python/" TargetMode="External"/><Relationship Id="rId2" Type="http://schemas.openxmlformats.org/officeDocument/2006/relationships/hyperlink" Target="https://github.com/NTUDevSoc/FYPythonWorkshop_26.11.2025" TargetMode="External"/><Relationship Id="rId1" Type="http://schemas.openxmlformats.org/officeDocument/2006/relationships/slideLayout" Target="../slideLayouts/slideLayout2.xml"/><Relationship Id="rId5" Type="http://schemas.openxmlformats.org/officeDocument/2006/relationships/hyperlink" Target="https://www.youtube.com/watch?v=cHYq1MRoyI0" TargetMode="External"/><Relationship Id="rId4" Type="http://schemas.openxmlformats.org/officeDocument/2006/relationships/hyperlink" Target="https://tinyurl.com/y2v3fam6/"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74F3A9F-A4A1-2CFA-19ED-941D3978AC1D}"/>
              </a:ext>
            </a:extLst>
          </p:cNvPr>
          <p:cNvPicPr>
            <a:picLocks noChangeAspect="1"/>
          </p:cNvPicPr>
          <p:nvPr/>
        </p:nvPicPr>
        <p:blipFill>
          <a:blip r:embed="rId3"/>
          <a:srcRect t="3953" r="92" b="13097"/>
          <a:stretch>
            <a:fillRect/>
          </a:stretch>
        </p:blipFill>
        <p:spPr>
          <a:xfrm>
            <a:off x="20" y="10"/>
            <a:ext cx="12191979" cy="6857990"/>
          </a:xfrm>
          <a:prstGeom prst="rect">
            <a:avLst/>
          </a:prstGeom>
        </p:spPr>
      </p:pic>
      <p:sp>
        <p:nvSpPr>
          <p:cNvPr id="2" name="Title 1">
            <a:extLst>
              <a:ext uri="{FF2B5EF4-FFF2-40B4-BE49-F238E27FC236}">
                <a16:creationId xmlns:a16="http://schemas.microsoft.com/office/drawing/2014/main" id="{2B81A7B5-29C1-2401-0519-1C00F863063B}"/>
              </a:ext>
            </a:extLst>
          </p:cNvPr>
          <p:cNvSpPr>
            <a:spLocks noGrp="1"/>
          </p:cNvSpPr>
          <p:nvPr>
            <p:ph type="ctrTitle"/>
          </p:nvPr>
        </p:nvSpPr>
        <p:spPr>
          <a:xfrm>
            <a:off x="320039" y="175146"/>
            <a:ext cx="8196432" cy="960120"/>
          </a:xfrm>
        </p:spPr>
        <p:txBody>
          <a:bodyPr anchor="ctr">
            <a:normAutofit/>
          </a:bodyPr>
          <a:lstStyle/>
          <a:p>
            <a:r>
              <a:rPr lang="en-GB" sz="4400" dirty="0"/>
              <a:t>Python Skills Workshop</a:t>
            </a:r>
          </a:p>
        </p:txBody>
      </p:sp>
      <p:sp>
        <p:nvSpPr>
          <p:cNvPr id="3" name="Subtitle 2">
            <a:extLst>
              <a:ext uri="{FF2B5EF4-FFF2-40B4-BE49-F238E27FC236}">
                <a16:creationId xmlns:a16="http://schemas.microsoft.com/office/drawing/2014/main" id="{CFE1D3C9-35FB-45DD-04ED-1168AA30CF50}"/>
              </a:ext>
            </a:extLst>
          </p:cNvPr>
          <p:cNvSpPr>
            <a:spLocks noGrp="1"/>
          </p:cNvSpPr>
          <p:nvPr>
            <p:ph type="subTitle" idx="1"/>
          </p:nvPr>
        </p:nvSpPr>
        <p:spPr>
          <a:xfrm>
            <a:off x="8597152" y="175146"/>
            <a:ext cx="3402123" cy="960120"/>
          </a:xfrm>
        </p:spPr>
        <p:txBody>
          <a:bodyPr anchor="ctr">
            <a:normAutofit/>
          </a:bodyPr>
          <a:lstStyle/>
          <a:p>
            <a:pPr algn="r"/>
            <a:r>
              <a:rPr lang="en-GB" sz="2000" dirty="0"/>
              <a:t>Neo Hamilton</a:t>
            </a:r>
          </a:p>
        </p:txBody>
      </p:sp>
      <p:pic>
        <p:nvPicPr>
          <p:cNvPr id="6" name="Picture 5" descr="A white letter on a blue background&#10;&#10;AI-generated content may be incorrect.">
            <a:extLst>
              <a:ext uri="{FF2B5EF4-FFF2-40B4-BE49-F238E27FC236}">
                <a16:creationId xmlns:a16="http://schemas.microsoft.com/office/drawing/2014/main" id="{491B6577-4730-F1C5-6426-12D9E86F52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98213" y="4953000"/>
            <a:ext cx="1905000" cy="1905000"/>
          </a:xfrm>
          <a:prstGeom prst="rect">
            <a:avLst/>
          </a:prstGeom>
        </p:spPr>
      </p:pic>
    </p:spTree>
    <p:extLst>
      <p:ext uri="{BB962C8B-B14F-4D97-AF65-F5344CB8AC3E}">
        <p14:creationId xmlns:p14="http://schemas.microsoft.com/office/powerpoint/2010/main" val="152949352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CFD09-1902-7A26-A36F-69497B83A4C2}"/>
              </a:ext>
            </a:extLst>
          </p:cNvPr>
          <p:cNvSpPr>
            <a:spLocks noGrp="1"/>
          </p:cNvSpPr>
          <p:nvPr>
            <p:ph type="title"/>
          </p:nvPr>
        </p:nvSpPr>
        <p:spPr>
          <a:xfrm>
            <a:off x="521208" y="978408"/>
            <a:ext cx="8732520" cy="1463040"/>
          </a:xfrm>
        </p:spPr>
        <p:txBody>
          <a:bodyPr>
            <a:normAutofit/>
          </a:bodyPr>
          <a:lstStyle/>
          <a:p>
            <a:r>
              <a:rPr lang="en-GB" dirty="0"/>
              <a:t>Topic Coverage</a:t>
            </a:r>
          </a:p>
        </p:txBody>
      </p:sp>
      <p:sp>
        <p:nvSpPr>
          <p:cNvPr id="3" name="Content Placeholder 2">
            <a:extLst>
              <a:ext uri="{FF2B5EF4-FFF2-40B4-BE49-F238E27FC236}">
                <a16:creationId xmlns:a16="http://schemas.microsoft.com/office/drawing/2014/main" id="{E71A3D42-A7B3-B2A9-A055-5C1FF093DA75}"/>
              </a:ext>
            </a:extLst>
          </p:cNvPr>
          <p:cNvSpPr>
            <a:spLocks noGrp="1"/>
          </p:cNvSpPr>
          <p:nvPr>
            <p:ph idx="1"/>
          </p:nvPr>
        </p:nvSpPr>
        <p:spPr>
          <a:xfrm>
            <a:off x="521208" y="1907177"/>
            <a:ext cx="8732520" cy="4438759"/>
          </a:xfrm>
        </p:spPr>
        <p:txBody>
          <a:bodyPr>
            <a:normAutofit/>
          </a:bodyPr>
          <a:lstStyle/>
          <a:p>
            <a:r>
              <a:rPr lang="en-GB" dirty="0"/>
              <a:t>Setting up an IDE (VSCODE, PyCharm)</a:t>
            </a:r>
          </a:p>
          <a:p>
            <a:endParaRPr lang="en-GB" dirty="0"/>
          </a:p>
          <a:p>
            <a:r>
              <a:rPr lang="en-GB" dirty="0"/>
              <a:t>Loops, Functions, Try-Except, Classes</a:t>
            </a:r>
          </a:p>
          <a:p>
            <a:endParaRPr lang="en-GB" dirty="0"/>
          </a:p>
          <a:p>
            <a:r>
              <a:rPr lang="en-GB" dirty="0"/>
              <a:t>File Handling reading and writing to .txt and .csv</a:t>
            </a:r>
          </a:p>
          <a:p>
            <a:endParaRPr lang="en-GB" dirty="0"/>
          </a:p>
          <a:p>
            <a:r>
              <a:rPr lang="en-GB" dirty="0"/>
              <a:t>Use of libraries: pandas (data analysis and manipulation)</a:t>
            </a:r>
          </a:p>
          <a:p>
            <a:r>
              <a:rPr lang="en-GB" dirty="0"/>
              <a:t>Extra Tips You Might Not Get Elsewhere…</a:t>
            </a:r>
          </a:p>
          <a:p>
            <a:endParaRPr lang="en-GB" dirty="0"/>
          </a:p>
        </p:txBody>
      </p:sp>
    </p:spTree>
    <p:extLst>
      <p:ext uri="{BB962C8B-B14F-4D97-AF65-F5344CB8AC3E}">
        <p14:creationId xmlns:p14="http://schemas.microsoft.com/office/powerpoint/2010/main" val="3735331894"/>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9770F-1AD5-34A2-7575-F5713A37AE8D}"/>
              </a:ext>
            </a:extLst>
          </p:cNvPr>
          <p:cNvSpPr>
            <a:spLocks noGrp="1"/>
          </p:cNvSpPr>
          <p:nvPr>
            <p:ph type="title"/>
          </p:nvPr>
        </p:nvSpPr>
        <p:spPr/>
        <p:txBody>
          <a:bodyPr/>
          <a:lstStyle/>
          <a:p>
            <a:r>
              <a:rPr lang="en-GB" dirty="0"/>
              <a:t>Setting Up Your Environment</a:t>
            </a:r>
          </a:p>
        </p:txBody>
      </p:sp>
      <p:sp>
        <p:nvSpPr>
          <p:cNvPr id="3" name="Content Placeholder 2">
            <a:extLst>
              <a:ext uri="{FF2B5EF4-FFF2-40B4-BE49-F238E27FC236}">
                <a16:creationId xmlns:a16="http://schemas.microsoft.com/office/drawing/2014/main" id="{D85A22AF-9261-E94A-91D3-93267C379554}"/>
              </a:ext>
            </a:extLst>
          </p:cNvPr>
          <p:cNvSpPr>
            <a:spLocks noGrp="1"/>
          </p:cNvSpPr>
          <p:nvPr>
            <p:ph idx="1"/>
          </p:nvPr>
        </p:nvSpPr>
        <p:spPr/>
        <p:txBody>
          <a:bodyPr>
            <a:normAutofit/>
          </a:bodyPr>
          <a:lstStyle/>
          <a:p>
            <a:r>
              <a:rPr lang="en-GB" dirty="0"/>
              <a:t>Visual Studio Code gives you lots of flexibility and customisation abilities </a:t>
            </a:r>
          </a:p>
          <a:p>
            <a:r>
              <a:rPr lang="en-GB" dirty="0"/>
              <a:t>It also looks good</a:t>
            </a:r>
          </a:p>
          <a:p>
            <a:endParaRPr lang="en-GB" dirty="0"/>
          </a:p>
          <a:p>
            <a:r>
              <a:rPr lang="en-GB" dirty="0"/>
              <a:t>You can download this from </a:t>
            </a:r>
            <a:r>
              <a:rPr lang="en-GB" dirty="0">
                <a:hlinkClick r:id="rId2"/>
              </a:rPr>
              <a:t>https://code.visualstudio.com/download</a:t>
            </a:r>
            <a:r>
              <a:rPr lang="en-GB" dirty="0"/>
              <a:t>! Or -&gt;</a:t>
            </a:r>
          </a:p>
          <a:p>
            <a:r>
              <a:rPr lang="en-GB" dirty="0"/>
              <a:t>Install process will vary slightly based on your OS (Windows, MacOS, Linux)</a:t>
            </a:r>
          </a:p>
          <a:p>
            <a:r>
              <a:rPr lang="en-GB" dirty="0"/>
              <a:t>The final step is to install a Python interpreter from:</a:t>
            </a:r>
          </a:p>
          <a:p>
            <a:pPr marL="0" indent="0">
              <a:buNone/>
            </a:pPr>
            <a:r>
              <a:rPr lang="en-GB" dirty="0">
                <a:hlinkClick r:id="rId3"/>
              </a:rPr>
              <a:t>https://www.python.org/downloads/</a:t>
            </a:r>
            <a:r>
              <a:rPr lang="en-GB" dirty="0"/>
              <a:t> </a:t>
            </a:r>
          </a:p>
          <a:p>
            <a:pPr marL="0" indent="0">
              <a:buNone/>
            </a:pPr>
            <a:r>
              <a:rPr lang="en-GB" dirty="0"/>
              <a:t>MAKE SURE TO ADD TO PATH!</a:t>
            </a:r>
          </a:p>
          <a:p>
            <a:r>
              <a:rPr lang="en-GB" dirty="0"/>
              <a:t>You could also use PyCharm which is amazing for python, but VSCODE allows you to use other languages with intellisense and debugging via extensions!</a:t>
            </a:r>
          </a:p>
        </p:txBody>
      </p:sp>
      <p:pic>
        <p:nvPicPr>
          <p:cNvPr id="5" name="Picture 4">
            <a:extLst>
              <a:ext uri="{FF2B5EF4-FFF2-40B4-BE49-F238E27FC236}">
                <a16:creationId xmlns:a16="http://schemas.microsoft.com/office/drawing/2014/main" id="{00A0F77B-80A9-8DF3-025F-7BCD836B371B}"/>
              </a:ext>
            </a:extLst>
          </p:cNvPr>
          <p:cNvPicPr>
            <a:picLocks noChangeAspect="1"/>
          </p:cNvPicPr>
          <p:nvPr/>
        </p:nvPicPr>
        <p:blipFill>
          <a:blip r:embed="rId4"/>
          <a:stretch>
            <a:fillRect/>
          </a:stretch>
        </p:blipFill>
        <p:spPr>
          <a:xfrm>
            <a:off x="9274002" y="2160589"/>
            <a:ext cx="2917998" cy="2917998"/>
          </a:xfrm>
          <a:prstGeom prst="rect">
            <a:avLst/>
          </a:prstGeom>
        </p:spPr>
      </p:pic>
      <p:pic>
        <p:nvPicPr>
          <p:cNvPr id="11" name="Graphic 10">
            <a:extLst>
              <a:ext uri="{FF2B5EF4-FFF2-40B4-BE49-F238E27FC236}">
                <a16:creationId xmlns:a16="http://schemas.microsoft.com/office/drawing/2014/main" id="{01FC7977-31E5-D2A7-81D0-2D47AF37141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285326" y="836612"/>
            <a:ext cx="895350" cy="866775"/>
          </a:xfrm>
          <a:prstGeom prst="rect">
            <a:avLst/>
          </a:prstGeom>
        </p:spPr>
      </p:pic>
    </p:spTree>
    <p:extLst>
      <p:ext uri="{BB962C8B-B14F-4D97-AF65-F5344CB8AC3E}">
        <p14:creationId xmlns:p14="http://schemas.microsoft.com/office/powerpoint/2010/main" val="20847198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A2383-328A-C696-E92C-249BCCBBFB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A89B28-3F56-FCF7-8ABE-7D0A556347D9}"/>
              </a:ext>
            </a:extLst>
          </p:cNvPr>
          <p:cNvSpPr>
            <a:spLocks noGrp="1"/>
          </p:cNvSpPr>
          <p:nvPr>
            <p:ph type="title"/>
          </p:nvPr>
        </p:nvSpPr>
        <p:spPr/>
        <p:txBody>
          <a:bodyPr/>
          <a:lstStyle/>
          <a:p>
            <a:r>
              <a:rPr lang="en-GB" dirty="0"/>
              <a:t>Setting Up Your Environment</a:t>
            </a:r>
          </a:p>
        </p:txBody>
      </p:sp>
      <p:sp>
        <p:nvSpPr>
          <p:cNvPr id="3" name="Content Placeholder 2">
            <a:extLst>
              <a:ext uri="{FF2B5EF4-FFF2-40B4-BE49-F238E27FC236}">
                <a16:creationId xmlns:a16="http://schemas.microsoft.com/office/drawing/2014/main" id="{80C9E235-03AE-98A5-A251-C3F558F9DF89}"/>
              </a:ext>
            </a:extLst>
          </p:cNvPr>
          <p:cNvSpPr>
            <a:spLocks noGrp="1"/>
          </p:cNvSpPr>
          <p:nvPr>
            <p:ph idx="1"/>
          </p:nvPr>
        </p:nvSpPr>
        <p:spPr>
          <a:xfrm>
            <a:off x="677334" y="2160589"/>
            <a:ext cx="8596668" cy="4288337"/>
          </a:xfrm>
        </p:spPr>
        <p:txBody>
          <a:bodyPr>
            <a:normAutofit/>
          </a:bodyPr>
          <a:lstStyle/>
          <a:p>
            <a:r>
              <a:rPr lang="en-GB" dirty="0"/>
              <a:t>Once VSCODE is launched, open your folder in the editor. This makes working with Git repositories or other multi-file projects much easier.</a:t>
            </a:r>
          </a:p>
          <a:p>
            <a:endParaRPr lang="en-GB" dirty="0"/>
          </a:p>
          <a:p>
            <a:r>
              <a:rPr lang="en-GB" dirty="0"/>
              <a:t>Right click the sidebar and create a new file. You could call this file main.py</a:t>
            </a:r>
          </a:p>
          <a:p>
            <a:endParaRPr lang="en-GB" dirty="0"/>
          </a:p>
          <a:p>
            <a:r>
              <a:rPr lang="en-GB" dirty="0"/>
              <a:t>Now create a hello world program:</a:t>
            </a:r>
          </a:p>
          <a:p>
            <a:pPr marL="0" indent="0">
              <a:buNone/>
            </a:pPr>
            <a:r>
              <a:rPr lang="en-GB" dirty="0"/>
              <a:t>def main():</a:t>
            </a:r>
          </a:p>
          <a:p>
            <a:pPr marL="0" indent="0">
              <a:buNone/>
            </a:pPr>
            <a:r>
              <a:rPr lang="en-GB" dirty="0"/>
              <a:t>    print(“Hello World”)</a:t>
            </a:r>
          </a:p>
          <a:p>
            <a:pPr marL="0" indent="0">
              <a:buNone/>
            </a:pPr>
            <a:endParaRPr lang="en-GB" dirty="0"/>
          </a:p>
          <a:p>
            <a:pPr marL="0" indent="0">
              <a:buNone/>
            </a:pPr>
            <a:r>
              <a:rPr lang="en-GB" dirty="0"/>
              <a:t>if __name__ == "__main__": </a:t>
            </a:r>
          </a:p>
          <a:p>
            <a:pPr marL="0" indent="0">
              <a:buNone/>
            </a:pPr>
            <a:r>
              <a:rPr lang="en-GB" dirty="0"/>
              <a:t>    main()</a:t>
            </a:r>
          </a:p>
          <a:p>
            <a:pPr marL="0" indent="0">
              <a:buNone/>
            </a:pPr>
            <a:endParaRPr lang="en-GB" dirty="0"/>
          </a:p>
          <a:p>
            <a:endParaRPr lang="en-GB" dirty="0"/>
          </a:p>
        </p:txBody>
      </p:sp>
    </p:spTree>
    <p:extLst>
      <p:ext uri="{BB962C8B-B14F-4D97-AF65-F5344CB8AC3E}">
        <p14:creationId xmlns:p14="http://schemas.microsoft.com/office/powerpoint/2010/main" val="4069269787"/>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D53F9-03F9-3698-62A8-A2B91A12CC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56F5EF-98AD-3494-3BA2-82E1933C10A2}"/>
              </a:ext>
            </a:extLst>
          </p:cNvPr>
          <p:cNvSpPr>
            <a:spLocks noGrp="1"/>
          </p:cNvSpPr>
          <p:nvPr>
            <p:ph type="title"/>
          </p:nvPr>
        </p:nvSpPr>
        <p:spPr>
          <a:xfrm>
            <a:off x="677334" y="609600"/>
            <a:ext cx="8596668" cy="673768"/>
          </a:xfrm>
        </p:spPr>
        <p:txBody>
          <a:bodyPr/>
          <a:lstStyle/>
          <a:p>
            <a:r>
              <a:rPr lang="en-GB" dirty="0"/>
              <a:t>Python PEP 8 (Style Guide)</a:t>
            </a:r>
          </a:p>
        </p:txBody>
      </p:sp>
      <p:sp>
        <p:nvSpPr>
          <p:cNvPr id="3" name="Content Placeholder 2">
            <a:extLst>
              <a:ext uri="{FF2B5EF4-FFF2-40B4-BE49-F238E27FC236}">
                <a16:creationId xmlns:a16="http://schemas.microsoft.com/office/drawing/2014/main" id="{4EEDE8A5-45C5-BBE3-BCAC-ACA5E4897FF6}"/>
              </a:ext>
            </a:extLst>
          </p:cNvPr>
          <p:cNvSpPr>
            <a:spLocks noGrp="1"/>
          </p:cNvSpPr>
          <p:nvPr>
            <p:ph idx="1"/>
          </p:nvPr>
        </p:nvSpPr>
        <p:spPr>
          <a:xfrm>
            <a:off x="677333" y="1283369"/>
            <a:ext cx="8867719" cy="5165558"/>
          </a:xfrm>
        </p:spPr>
        <p:txBody>
          <a:bodyPr>
            <a:normAutofit/>
          </a:bodyPr>
          <a:lstStyle/>
          <a:p>
            <a:r>
              <a:rPr lang="en-GB" dirty="0"/>
              <a:t>PEP 8 is a set of recommendations and conventions for how to format your python code to improve its readability and consistency. Code is typically read more than it is written, so following a common style makes it easier for different developers (including your future self) to understand and maintain code.</a:t>
            </a:r>
          </a:p>
          <a:p>
            <a:r>
              <a:rPr lang="en-GB" dirty="0"/>
              <a:t>Naming Conventions (Naming Styles):</a:t>
            </a:r>
          </a:p>
          <a:p>
            <a:pPr marL="0" indent="0">
              <a:buNone/>
            </a:pPr>
            <a:r>
              <a:rPr lang="en-GB" dirty="0"/>
              <a:t>Functions and Variables: lowercase_with_underscores (snake_case) e.g. user_name</a:t>
            </a:r>
          </a:p>
          <a:p>
            <a:pPr marL="0" indent="0">
              <a:buNone/>
            </a:pPr>
            <a:r>
              <a:rPr lang="en-GB" dirty="0"/>
              <a:t>Classes: CapitalisedWords e.g. RequestHandler, Animal</a:t>
            </a:r>
          </a:p>
          <a:p>
            <a:pPr marL="0" indent="0">
              <a:buNone/>
            </a:pPr>
            <a:r>
              <a:rPr lang="en-GB" dirty="0"/>
              <a:t>Constants: ALL_CAPS_WITH_UNDERSCORES e.g. PI, MAX_LIVES</a:t>
            </a:r>
          </a:p>
          <a:p>
            <a:pPr marL="0" indent="0">
              <a:buNone/>
            </a:pPr>
            <a:r>
              <a:rPr lang="en-GB" dirty="0"/>
              <a:t>Private variables: _underscore_lowercase_with_underscore used for object-oriented programming.</a:t>
            </a:r>
          </a:p>
          <a:p>
            <a:pPr marL="0" indent="0">
              <a:buNone/>
            </a:pPr>
            <a:r>
              <a:rPr lang="en-GB" dirty="0"/>
              <a:t>Module Names: lowercase_with_underscores e.g. my_module.py</a:t>
            </a:r>
          </a:p>
        </p:txBody>
      </p:sp>
    </p:spTree>
    <p:extLst>
      <p:ext uri="{BB962C8B-B14F-4D97-AF65-F5344CB8AC3E}">
        <p14:creationId xmlns:p14="http://schemas.microsoft.com/office/powerpoint/2010/main" val="503984949"/>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0A54A-9EA4-8DD2-D61F-6D82EFAAFC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D20A2B-7B78-6560-918F-A6AC5FA3952F}"/>
              </a:ext>
            </a:extLst>
          </p:cNvPr>
          <p:cNvSpPr>
            <a:spLocks noGrp="1"/>
          </p:cNvSpPr>
          <p:nvPr>
            <p:ph type="title"/>
          </p:nvPr>
        </p:nvSpPr>
        <p:spPr>
          <a:xfrm>
            <a:off x="677334" y="609600"/>
            <a:ext cx="8596668" cy="673768"/>
          </a:xfrm>
        </p:spPr>
        <p:txBody>
          <a:bodyPr/>
          <a:lstStyle/>
          <a:p>
            <a:r>
              <a:rPr lang="en-GB" dirty="0"/>
              <a:t>Python PEP 8 (Style Guide) Continued</a:t>
            </a:r>
          </a:p>
        </p:txBody>
      </p:sp>
      <p:sp>
        <p:nvSpPr>
          <p:cNvPr id="3" name="Content Placeholder 2">
            <a:extLst>
              <a:ext uri="{FF2B5EF4-FFF2-40B4-BE49-F238E27FC236}">
                <a16:creationId xmlns:a16="http://schemas.microsoft.com/office/drawing/2014/main" id="{B3185041-B570-F24F-F81D-494B2AD494F7}"/>
              </a:ext>
            </a:extLst>
          </p:cNvPr>
          <p:cNvSpPr>
            <a:spLocks noGrp="1"/>
          </p:cNvSpPr>
          <p:nvPr>
            <p:ph idx="1"/>
          </p:nvPr>
        </p:nvSpPr>
        <p:spPr>
          <a:xfrm>
            <a:off x="677333" y="1283369"/>
            <a:ext cx="8867719" cy="5165558"/>
          </a:xfrm>
        </p:spPr>
        <p:txBody>
          <a:bodyPr>
            <a:normAutofit/>
          </a:bodyPr>
          <a:lstStyle/>
          <a:p>
            <a:r>
              <a:rPr lang="en-GB" b="1" dirty="0"/>
              <a:t>Indentation:</a:t>
            </a:r>
            <a:r>
              <a:rPr lang="en-GB" dirty="0"/>
              <a:t> Use </a:t>
            </a:r>
            <a:r>
              <a:rPr lang="en-GB" b="1" dirty="0"/>
              <a:t>4 spaces</a:t>
            </a:r>
            <a:r>
              <a:rPr lang="en-GB" dirty="0"/>
              <a:t> per indentation level.</a:t>
            </a:r>
          </a:p>
          <a:p>
            <a:r>
              <a:rPr lang="en-GB" b="1" dirty="0"/>
              <a:t>Maximum Line Length:</a:t>
            </a:r>
            <a:r>
              <a:rPr lang="en-GB" dirty="0"/>
              <a:t> Lines should be limited to </a:t>
            </a:r>
            <a:r>
              <a:rPr lang="en-GB" b="1" dirty="0"/>
              <a:t>79 characters</a:t>
            </a:r>
            <a:r>
              <a:rPr lang="en-GB" dirty="0"/>
              <a:t>. This improves readability, especially when viewing files side-by-side.</a:t>
            </a:r>
          </a:p>
          <a:p>
            <a:r>
              <a:rPr lang="en-GB" dirty="0"/>
              <a:t>Use a </a:t>
            </a:r>
            <a:r>
              <a:rPr lang="en-GB" b="1" dirty="0"/>
              <a:t>single space</a:t>
            </a:r>
            <a:r>
              <a:rPr lang="en-GB" dirty="0"/>
              <a:t> around binary operators (assignment =, comparison ==, arithmetic +, -, etc.)</a:t>
            </a:r>
          </a:p>
          <a:p>
            <a:r>
              <a:rPr lang="en-GB" b="1" dirty="0"/>
              <a:t>Avoid whitespace</a:t>
            </a:r>
            <a:r>
              <a:rPr lang="en-GB" dirty="0"/>
              <a:t> immediately inside parentheses, brackets, or braces.</a:t>
            </a:r>
          </a:p>
          <a:p>
            <a:r>
              <a:rPr lang="en-GB" b="1" dirty="0"/>
              <a:t>Keep variable names readable</a:t>
            </a:r>
            <a:r>
              <a:rPr lang="en-GB" dirty="0"/>
              <a:t>: instead of using r use radius_of_circle for example, readability is key. A small exception to this would be loop counters such as I,j,k. etc in for loops.</a:t>
            </a:r>
          </a:p>
          <a:p>
            <a:r>
              <a:rPr lang="en-GB" b="1" dirty="0"/>
              <a:t>Keep comments relevant and concise. You can also use them to comment out certain lines while testing/debugging your code.</a:t>
            </a:r>
          </a:p>
        </p:txBody>
      </p:sp>
    </p:spTree>
    <p:extLst>
      <p:ext uri="{BB962C8B-B14F-4D97-AF65-F5344CB8AC3E}">
        <p14:creationId xmlns:p14="http://schemas.microsoft.com/office/powerpoint/2010/main" val="203757585"/>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CC70B-AB89-93E1-7D33-6B84FB824B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33C0B8-50F7-6071-F738-865067260722}"/>
              </a:ext>
            </a:extLst>
          </p:cNvPr>
          <p:cNvSpPr>
            <a:spLocks noGrp="1"/>
          </p:cNvSpPr>
          <p:nvPr>
            <p:ph type="title"/>
          </p:nvPr>
        </p:nvSpPr>
        <p:spPr/>
        <p:txBody>
          <a:bodyPr/>
          <a:lstStyle/>
          <a:p>
            <a:r>
              <a:rPr lang="en-GB" dirty="0"/>
              <a:t>Time To Code!</a:t>
            </a:r>
          </a:p>
        </p:txBody>
      </p:sp>
      <p:sp>
        <p:nvSpPr>
          <p:cNvPr id="3" name="Content Placeholder 2">
            <a:extLst>
              <a:ext uri="{FF2B5EF4-FFF2-40B4-BE49-F238E27FC236}">
                <a16:creationId xmlns:a16="http://schemas.microsoft.com/office/drawing/2014/main" id="{D710C584-097A-9EB0-E821-54D07CD2F144}"/>
              </a:ext>
            </a:extLst>
          </p:cNvPr>
          <p:cNvSpPr>
            <a:spLocks noGrp="1"/>
          </p:cNvSpPr>
          <p:nvPr>
            <p:ph idx="1"/>
          </p:nvPr>
        </p:nvSpPr>
        <p:spPr>
          <a:xfrm>
            <a:off x="677334" y="1930401"/>
            <a:ext cx="8596668" cy="4518526"/>
          </a:xfrm>
        </p:spPr>
        <p:txBody>
          <a:bodyPr>
            <a:normAutofit/>
          </a:bodyPr>
          <a:lstStyle/>
          <a:p>
            <a:pPr marL="0" indent="0">
              <a:buNone/>
            </a:pPr>
            <a:r>
              <a:rPr lang="en-GB" dirty="0"/>
              <a:t>Download the repository as a zip file or clone it and get started! You’ll find guides (Courtesy of Callum W) for each of the topics being covered. Link:</a:t>
            </a:r>
          </a:p>
          <a:p>
            <a:pPr marL="0" indent="0">
              <a:buNone/>
            </a:pPr>
            <a:r>
              <a:rPr lang="en-GB" dirty="0">
                <a:hlinkClick r:id="rId2"/>
              </a:rPr>
              <a:t>https://github.com/NTUDevSoc/FYPythonWorkshop_26.11.2025</a:t>
            </a:r>
            <a:endParaRPr lang="en-GB" dirty="0"/>
          </a:p>
          <a:p>
            <a:pPr marL="0" indent="0">
              <a:buNone/>
            </a:pPr>
            <a:endParaRPr lang="en-GB" dirty="0"/>
          </a:p>
          <a:p>
            <a:pPr marL="0" indent="0">
              <a:buNone/>
            </a:pPr>
            <a:r>
              <a:rPr lang="en-GB" dirty="0"/>
              <a:t>We’ll be walking around to check up on you all but put up your hands or shout out to us (Neo, Mwenya, Hauwa) to get our attention!</a:t>
            </a:r>
          </a:p>
        </p:txBody>
      </p:sp>
    </p:spTree>
    <p:extLst>
      <p:ext uri="{BB962C8B-B14F-4D97-AF65-F5344CB8AC3E}">
        <p14:creationId xmlns:p14="http://schemas.microsoft.com/office/powerpoint/2010/main" val="3334426315"/>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BE0B6-2F04-9582-05B9-3597AA3FBE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984A2D-3F5E-42E4-9220-4B1AAD73C06D}"/>
              </a:ext>
            </a:extLst>
          </p:cNvPr>
          <p:cNvSpPr>
            <a:spLocks noGrp="1"/>
          </p:cNvSpPr>
          <p:nvPr>
            <p:ph type="title"/>
          </p:nvPr>
        </p:nvSpPr>
        <p:spPr/>
        <p:txBody>
          <a:bodyPr/>
          <a:lstStyle/>
          <a:p>
            <a:r>
              <a:rPr lang="en-GB" dirty="0"/>
              <a:t>Useful shortcuts while coding!</a:t>
            </a:r>
          </a:p>
        </p:txBody>
      </p:sp>
      <p:sp>
        <p:nvSpPr>
          <p:cNvPr id="3" name="Content Placeholder 2">
            <a:extLst>
              <a:ext uri="{FF2B5EF4-FFF2-40B4-BE49-F238E27FC236}">
                <a16:creationId xmlns:a16="http://schemas.microsoft.com/office/drawing/2014/main" id="{0AEA3016-5E60-C673-1D7D-80190111ACBD}"/>
              </a:ext>
            </a:extLst>
          </p:cNvPr>
          <p:cNvSpPr>
            <a:spLocks noGrp="1"/>
          </p:cNvSpPr>
          <p:nvPr>
            <p:ph idx="1"/>
          </p:nvPr>
        </p:nvSpPr>
        <p:spPr>
          <a:xfrm>
            <a:off x="677334" y="1636295"/>
            <a:ext cx="8596668" cy="4812632"/>
          </a:xfrm>
        </p:spPr>
        <p:txBody>
          <a:bodyPr>
            <a:normAutofit/>
          </a:bodyPr>
          <a:lstStyle/>
          <a:p>
            <a:pPr marL="0" indent="0">
              <a:buNone/>
            </a:pPr>
            <a:r>
              <a:rPr lang="en-GB" dirty="0"/>
              <a:t>CTRL+C – copy</a:t>
            </a:r>
          </a:p>
          <a:p>
            <a:pPr marL="0" indent="0">
              <a:buNone/>
            </a:pPr>
            <a:r>
              <a:rPr lang="en-GB" dirty="0"/>
              <a:t>CTRL+V – paste</a:t>
            </a:r>
          </a:p>
          <a:p>
            <a:pPr marL="0" indent="0">
              <a:buNone/>
            </a:pPr>
            <a:r>
              <a:rPr lang="en-GB" dirty="0"/>
              <a:t>CTRL+X – cut</a:t>
            </a:r>
          </a:p>
          <a:p>
            <a:pPr marL="0" indent="0">
              <a:buNone/>
            </a:pPr>
            <a:r>
              <a:rPr lang="en-GB" dirty="0"/>
              <a:t>CTRL+S – save</a:t>
            </a:r>
          </a:p>
          <a:p>
            <a:pPr marL="0" indent="0">
              <a:buNone/>
            </a:pPr>
            <a:r>
              <a:rPr lang="en-GB" dirty="0"/>
              <a:t>CTRL+Z – undo, CTRL+SHIFT+Z – redo</a:t>
            </a:r>
          </a:p>
          <a:p>
            <a:pPr marL="0" indent="0">
              <a:buNone/>
            </a:pPr>
            <a:r>
              <a:rPr lang="en-GB" dirty="0"/>
              <a:t>CTRL+ left/right arrow keys – go forward or back a whole word.</a:t>
            </a:r>
          </a:p>
          <a:p>
            <a:pPr marL="0" indent="0">
              <a:buNone/>
            </a:pPr>
            <a:r>
              <a:rPr lang="en-GB" dirty="0"/>
              <a:t>Home – start of line, End – end of line. TRY HOLDING SHIFT WHILE DOING THESE</a:t>
            </a:r>
          </a:p>
          <a:p>
            <a:pPr marL="0" indent="0">
              <a:buNone/>
            </a:pPr>
            <a:r>
              <a:rPr lang="en-GB" dirty="0"/>
              <a:t>CTRL + enter – open a split window (have two files on the screen at once)</a:t>
            </a:r>
          </a:p>
          <a:p>
            <a:pPr marL="0" indent="0">
              <a:buNone/>
            </a:pPr>
            <a:r>
              <a:rPr lang="en-GB" dirty="0"/>
              <a:t>This might seem like a lot to keep in mind, but the less you need to use your mouse, the faster you’ll be able to code.</a:t>
            </a:r>
          </a:p>
          <a:p>
            <a:pPr marL="0" indent="0">
              <a:buNone/>
            </a:pPr>
            <a:endParaRPr lang="en-GB" dirty="0"/>
          </a:p>
          <a:p>
            <a:pPr marL="0" indent="0">
              <a:buNone/>
            </a:pPr>
            <a:r>
              <a:rPr lang="en-GB" dirty="0">
                <a:hlinkClick r:id="rId2"/>
              </a:rPr>
              <a:t>https://github.com/NTUDevSoc/FYPythonWorkshop_26.11.2025</a:t>
            </a:r>
            <a:endParaRPr lang="en-GB" dirty="0"/>
          </a:p>
          <a:p>
            <a:pPr marL="0" indent="0">
              <a:buNone/>
            </a:pPr>
            <a:endParaRPr lang="en-GB" dirty="0"/>
          </a:p>
        </p:txBody>
      </p:sp>
    </p:spTree>
    <p:extLst>
      <p:ext uri="{BB962C8B-B14F-4D97-AF65-F5344CB8AC3E}">
        <p14:creationId xmlns:p14="http://schemas.microsoft.com/office/powerpoint/2010/main" val="2176946686"/>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A465B-4688-3395-81AE-1F73380184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90A469-1E86-942C-E49A-42ABE4EB0C99}"/>
              </a:ext>
            </a:extLst>
          </p:cNvPr>
          <p:cNvSpPr>
            <a:spLocks noGrp="1"/>
          </p:cNvSpPr>
          <p:nvPr>
            <p:ph type="title"/>
          </p:nvPr>
        </p:nvSpPr>
        <p:spPr/>
        <p:txBody>
          <a:bodyPr/>
          <a:lstStyle/>
          <a:p>
            <a:r>
              <a:rPr lang="en-GB" dirty="0"/>
              <a:t>BONUS?! Ace Python Coursework</a:t>
            </a:r>
            <a:br>
              <a:rPr lang="en-GB" dirty="0"/>
            </a:br>
            <a:endParaRPr lang="en-GB" dirty="0"/>
          </a:p>
        </p:txBody>
      </p:sp>
      <p:sp>
        <p:nvSpPr>
          <p:cNvPr id="3" name="Content Placeholder 2">
            <a:extLst>
              <a:ext uri="{FF2B5EF4-FFF2-40B4-BE49-F238E27FC236}">
                <a16:creationId xmlns:a16="http://schemas.microsoft.com/office/drawing/2014/main" id="{4BC3BDA5-BA98-8E04-5701-6857DE72DA41}"/>
              </a:ext>
            </a:extLst>
          </p:cNvPr>
          <p:cNvSpPr>
            <a:spLocks noGrp="1"/>
          </p:cNvSpPr>
          <p:nvPr>
            <p:ph idx="1"/>
          </p:nvPr>
        </p:nvSpPr>
        <p:spPr>
          <a:xfrm>
            <a:off x="677334" y="2160589"/>
            <a:ext cx="8596668" cy="4416674"/>
          </a:xfrm>
        </p:spPr>
        <p:txBody>
          <a:bodyPr>
            <a:normAutofit fontScale="92500" lnSpcReduction="10000"/>
          </a:bodyPr>
          <a:lstStyle/>
          <a:p>
            <a:pPr marL="0" indent="0">
              <a:buNone/>
            </a:pPr>
            <a:r>
              <a:rPr lang="en-GB" dirty="0"/>
              <a:t>Assuming you’re aiming for a First, here’s some tips to really boost your grading potential:</a:t>
            </a:r>
          </a:p>
          <a:p>
            <a:r>
              <a:rPr lang="en-GB" dirty="0"/>
              <a:t>Check your coursework specification. Look at how much weight is given to each part of your course-work, remember you just need most points to be at a 1</a:t>
            </a:r>
            <a:r>
              <a:rPr lang="en-GB" baseline="30000" dirty="0"/>
              <a:t>st</a:t>
            </a:r>
            <a:r>
              <a:rPr lang="en-GB" dirty="0"/>
              <a:t> level (with the others at a 2:1) to achieve one.</a:t>
            </a:r>
          </a:p>
          <a:p>
            <a:r>
              <a:rPr lang="en-GB" dirty="0"/>
              <a:t>Look into unit testing. Not only could this come up for you, but it will be a useful concept to understand for future coursework in different languages (e.g. C++ and Java).</a:t>
            </a:r>
          </a:p>
          <a:p>
            <a:r>
              <a:rPr lang="en-GB" dirty="0"/>
              <a:t>Look into learning touch typing. You don’t have to be a pro but not having to look at your hands and relying less on your mouse really will improve your coding speed, which will have a knock-on effect on your work efficiency.</a:t>
            </a:r>
          </a:p>
          <a:p>
            <a:r>
              <a:rPr lang="en-GB" dirty="0"/>
              <a:t>For your project, keep an eye on the encoding type (look at the bottom right in VSCODE). Two common issues you can run into when handling files are encoding type (should be utf-8 but input might be incorrectly encoded), as well as your character set (you may have characters from other languages that aren’t correctly recognised by default).</a:t>
            </a:r>
          </a:p>
        </p:txBody>
      </p:sp>
    </p:spTree>
    <p:extLst>
      <p:ext uri="{BB962C8B-B14F-4D97-AF65-F5344CB8AC3E}">
        <p14:creationId xmlns:p14="http://schemas.microsoft.com/office/powerpoint/2010/main" val="4125261486"/>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4A220-E21D-8367-2989-2B9F2A4C7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488F1C-7CC4-9F57-CDF1-4ABC0C33E699}"/>
              </a:ext>
            </a:extLst>
          </p:cNvPr>
          <p:cNvSpPr>
            <a:spLocks noGrp="1"/>
          </p:cNvSpPr>
          <p:nvPr>
            <p:ph type="title"/>
          </p:nvPr>
        </p:nvSpPr>
        <p:spPr>
          <a:xfrm>
            <a:off x="677334" y="609600"/>
            <a:ext cx="8596668" cy="673768"/>
          </a:xfrm>
        </p:spPr>
        <p:txBody>
          <a:bodyPr>
            <a:normAutofit fontScale="90000"/>
          </a:bodyPr>
          <a:lstStyle/>
          <a:p>
            <a:r>
              <a:rPr lang="en-GB" dirty="0"/>
              <a:t>Extra Resources</a:t>
            </a:r>
            <a:br>
              <a:rPr lang="en-GB" dirty="0"/>
            </a:br>
            <a:endParaRPr lang="en-GB" dirty="0"/>
          </a:p>
        </p:txBody>
      </p:sp>
      <p:sp>
        <p:nvSpPr>
          <p:cNvPr id="3" name="Content Placeholder 2">
            <a:extLst>
              <a:ext uri="{FF2B5EF4-FFF2-40B4-BE49-F238E27FC236}">
                <a16:creationId xmlns:a16="http://schemas.microsoft.com/office/drawing/2014/main" id="{FA65C899-7512-7E3F-6DE0-CBA2493845E3}"/>
              </a:ext>
            </a:extLst>
          </p:cNvPr>
          <p:cNvSpPr>
            <a:spLocks noGrp="1"/>
          </p:cNvSpPr>
          <p:nvPr>
            <p:ph idx="1"/>
          </p:nvPr>
        </p:nvSpPr>
        <p:spPr>
          <a:xfrm>
            <a:off x="677334" y="1283368"/>
            <a:ext cx="8596668" cy="5293895"/>
          </a:xfrm>
        </p:spPr>
        <p:txBody>
          <a:bodyPr>
            <a:normAutofit/>
          </a:bodyPr>
          <a:lstStyle/>
          <a:p>
            <a:r>
              <a:rPr lang="en-GB" dirty="0"/>
              <a:t>Workshop GitHub Repo (credit to Callum W): </a:t>
            </a:r>
            <a:r>
              <a:rPr lang="en-GB" dirty="0">
                <a:hlinkClick r:id="rId2"/>
              </a:rPr>
              <a:t>https://github.com/NTUDevSoc/FYPythonWorkshop_26.11.2025</a:t>
            </a:r>
            <a:endParaRPr lang="en-GB" dirty="0"/>
          </a:p>
          <a:p>
            <a:pPr marL="0" indent="0">
              <a:buNone/>
            </a:pPr>
            <a:endParaRPr lang="en-GB" dirty="0"/>
          </a:p>
          <a:p>
            <a:r>
              <a:rPr lang="en-GB" dirty="0"/>
              <a:t>W3Schools (Python tutorial covering most python fundamentals): </a:t>
            </a:r>
            <a:r>
              <a:rPr lang="en-GB" dirty="0">
                <a:hlinkClick r:id="rId3"/>
              </a:rPr>
              <a:t>https://www.w3schools.com/python/</a:t>
            </a:r>
            <a:endParaRPr lang="en-GB" dirty="0"/>
          </a:p>
          <a:p>
            <a:r>
              <a:rPr lang="en-GB" dirty="0"/>
              <a:t>Learn to touch type (childish programme, but works): </a:t>
            </a:r>
            <a:r>
              <a:rPr lang="en-GB" dirty="0">
                <a:hlinkClick r:id="rId4"/>
              </a:rPr>
              <a:t>https://tinyurl.com/y2v3fam6/</a:t>
            </a:r>
            <a:endParaRPr lang="en-GB" dirty="0"/>
          </a:p>
          <a:p>
            <a:endParaRPr lang="en-GB" dirty="0"/>
          </a:p>
          <a:p>
            <a:r>
              <a:rPr lang="en-GB" dirty="0"/>
              <a:t>Pytest tutorial: </a:t>
            </a:r>
            <a:r>
              <a:rPr lang="en-GB" dirty="0">
                <a:hlinkClick r:id="rId5"/>
              </a:rPr>
              <a:t>https://www.youtube.com/watch?v=cHYq1MRoyI0</a:t>
            </a:r>
            <a:endParaRPr lang="en-GB" dirty="0"/>
          </a:p>
          <a:p>
            <a:endParaRPr lang="en-GB" dirty="0"/>
          </a:p>
          <a:p>
            <a:endParaRPr lang="en-GB" dirty="0"/>
          </a:p>
        </p:txBody>
      </p:sp>
    </p:spTree>
    <p:extLst>
      <p:ext uri="{BB962C8B-B14F-4D97-AF65-F5344CB8AC3E}">
        <p14:creationId xmlns:p14="http://schemas.microsoft.com/office/powerpoint/2010/main" val="549903950"/>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8964039-BB20-5A86-81EA-906037EC92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3B2F32-8D96-70CA-9482-10FAA5A653E9}"/>
              </a:ext>
            </a:extLst>
          </p:cNvPr>
          <p:cNvSpPr>
            <a:spLocks noGrp="1"/>
          </p:cNvSpPr>
          <p:nvPr>
            <p:ph type="ctrTitle"/>
          </p:nvPr>
        </p:nvSpPr>
        <p:spPr>
          <a:xfrm>
            <a:off x="5380563" y="2404534"/>
            <a:ext cx="3893439" cy="1646302"/>
          </a:xfrm>
        </p:spPr>
        <p:txBody>
          <a:bodyPr>
            <a:normAutofit/>
          </a:bodyPr>
          <a:lstStyle/>
          <a:p>
            <a:pPr>
              <a:lnSpc>
                <a:spcPct val="90000"/>
              </a:lnSpc>
            </a:pPr>
            <a:r>
              <a:rPr lang="en-GB" sz="4600" dirty="0"/>
              <a:t>Thank you for your time!</a:t>
            </a:r>
          </a:p>
        </p:txBody>
      </p:sp>
      <p:pic>
        <p:nvPicPr>
          <p:cNvPr id="6" name="Picture 5" descr="A white letter on a blue background&#10;&#10;AI-generated content may be incorrect.">
            <a:extLst>
              <a:ext uri="{FF2B5EF4-FFF2-40B4-BE49-F238E27FC236}">
                <a16:creationId xmlns:a16="http://schemas.microsoft.com/office/drawing/2014/main" id="{5B233599-48D8-E99E-08E3-3B86A087B902}"/>
              </a:ext>
            </a:extLst>
          </p:cNvPr>
          <p:cNvPicPr>
            <a:picLocks noChangeAspect="1"/>
          </p:cNvPicPr>
          <p:nvPr/>
        </p:nvPicPr>
        <p:blipFill>
          <a:blip r:embed="rId2">
            <a:extLst>
              <a:ext uri="{28A0092B-C50C-407E-A947-70E740481C1C}">
                <a14:useLocalDpi xmlns:a14="http://schemas.microsoft.com/office/drawing/2010/main" val="0"/>
              </a:ext>
            </a:extLst>
          </a:blip>
          <a:srcRect t="8744" b="9501"/>
          <a:stretch>
            <a:fillRect/>
          </a:stretch>
        </p:blipFill>
        <p:spPr>
          <a:xfrm>
            <a:off x="212548" y="-1"/>
            <a:ext cx="5182413" cy="4236855"/>
          </a:xfrm>
          <a:custGeom>
            <a:avLst/>
            <a:gdLst/>
            <a:ahLst/>
            <a:cxnLst/>
            <a:rect l="l" t="t" r="r" b="b"/>
            <a:pathLst>
              <a:path w="5182413" h="4236855">
                <a:moveTo>
                  <a:pt x="630049" y="0"/>
                </a:moveTo>
                <a:lnTo>
                  <a:pt x="5182413" y="0"/>
                </a:lnTo>
                <a:lnTo>
                  <a:pt x="5182413" y="21851"/>
                </a:lnTo>
                <a:lnTo>
                  <a:pt x="4547946" y="4236855"/>
                </a:lnTo>
                <a:lnTo>
                  <a:pt x="0" y="4236855"/>
                </a:lnTo>
                <a:close/>
              </a:path>
            </a:pathLst>
          </a:custGeom>
        </p:spPr>
      </p:pic>
      <p:pic>
        <p:nvPicPr>
          <p:cNvPr id="4" name="Picture 3">
            <a:extLst>
              <a:ext uri="{FF2B5EF4-FFF2-40B4-BE49-F238E27FC236}">
                <a16:creationId xmlns:a16="http://schemas.microsoft.com/office/drawing/2014/main" id="{D366C474-32B1-DB25-865C-76903792CC33}"/>
              </a:ext>
            </a:extLst>
          </p:cNvPr>
          <p:cNvPicPr>
            <a:picLocks noChangeAspect="1"/>
          </p:cNvPicPr>
          <p:nvPr/>
        </p:nvPicPr>
        <p:blipFill>
          <a:blip r:embed="rId3"/>
          <a:srcRect t="14391" r="3" b="4304"/>
          <a:stretch>
            <a:fillRect/>
          </a:stretch>
        </p:blipFill>
        <p:spPr>
          <a:xfrm>
            <a:off x="20" y="4235547"/>
            <a:ext cx="4760670" cy="2622453"/>
          </a:xfrm>
          <a:custGeom>
            <a:avLst/>
            <a:gdLst/>
            <a:ahLst/>
            <a:cxnLst/>
            <a:rect l="l" t="t" r="r" b="b"/>
            <a:pathLst>
              <a:path w="4760690" h="2622453">
                <a:moveTo>
                  <a:pt x="212741" y="0"/>
                </a:moveTo>
                <a:lnTo>
                  <a:pt x="4760690" y="0"/>
                </a:lnTo>
                <a:lnTo>
                  <a:pt x="4365943" y="2622453"/>
                </a:lnTo>
                <a:lnTo>
                  <a:pt x="0" y="2622453"/>
                </a:lnTo>
                <a:lnTo>
                  <a:pt x="0" y="1430607"/>
                </a:lnTo>
                <a:close/>
              </a:path>
            </a:pathLst>
          </a:custGeom>
        </p:spPr>
      </p:pic>
      <p:cxnSp>
        <p:nvCxnSpPr>
          <p:cNvPr id="11" name="Straight Connector 10">
            <a:extLst>
              <a:ext uri="{FF2B5EF4-FFF2-40B4-BE49-F238E27FC236}">
                <a16:creationId xmlns:a16="http://schemas.microsoft.com/office/drawing/2014/main" id="{8F7B6EED-5C10-4047-B771-1148034164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12887" y="4236854"/>
            <a:ext cx="45494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1034713"/>
      </p:ext>
    </p:extLst>
  </p:cSld>
  <p:clrMapOvr>
    <a:masterClrMapping/>
  </p:clrMapOvr>
  <p:transition spd="slow">
    <p:push dir="u"/>
  </p:transition>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95097599262AD4DB09BF82296AD2CF6" ma:contentTypeVersion="10" ma:contentTypeDescription="Create a new document." ma:contentTypeScope="" ma:versionID="ad3cd1c2ba87b91e4ad49d71d5ddf916">
  <xsd:schema xmlns:xsd="http://www.w3.org/2001/XMLSchema" xmlns:xs="http://www.w3.org/2001/XMLSchema" xmlns:p="http://schemas.microsoft.com/office/2006/metadata/properties" xmlns:ns3="e5b4f887-ac80-4857-b647-5e7260330f7d" targetNamespace="http://schemas.microsoft.com/office/2006/metadata/properties" ma:root="true" ma:fieldsID="47b883026a112d5ecdd9baa7a107dad1" ns3:_="">
    <xsd:import namespace="e5b4f887-ac80-4857-b647-5e7260330f7d"/>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b4f887-ac80-4857-b647-5e7260330f7d"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e5b4f887-ac80-4857-b647-5e7260330f7d" xsi:nil="true"/>
  </documentManagement>
</p:properties>
</file>

<file path=customXml/itemProps1.xml><?xml version="1.0" encoding="utf-8"?>
<ds:datastoreItem xmlns:ds="http://schemas.openxmlformats.org/officeDocument/2006/customXml" ds:itemID="{E1AB2E0E-7887-4119-B87F-EA94B7278E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5b4f887-ac80-4857-b647-5e7260330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3728AD8-42AD-4D39-9DC1-B00A978A93E8}">
  <ds:schemaRefs>
    <ds:schemaRef ds:uri="http://schemas.microsoft.com/sharepoint/v3/contenttype/forms"/>
  </ds:schemaRefs>
</ds:datastoreItem>
</file>

<file path=customXml/itemProps3.xml><?xml version="1.0" encoding="utf-8"?>
<ds:datastoreItem xmlns:ds="http://schemas.openxmlformats.org/officeDocument/2006/customXml" ds:itemID="{7A586065-91B7-4E94-8925-29E0D794A1B4}">
  <ds:schemaRefs>
    <ds:schemaRef ds:uri="http://purl.org/dc/dcmitype/"/>
    <ds:schemaRef ds:uri="http://www.w3.org/XML/1998/namespace"/>
    <ds:schemaRef ds:uri="http://purl.org/dc/elements/1.1/"/>
    <ds:schemaRef ds:uri="http://schemas.openxmlformats.org/package/2006/metadata/core-properties"/>
    <ds:schemaRef ds:uri="e5b4f887-ac80-4857-b647-5e7260330f7d"/>
    <ds:schemaRef ds:uri="http://schemas.microsoft.com/office/2006/documentManagement/types"/>
    <ds:schemaRef ds:uri="http://schemas.microsoft.com/office/infopath/2007/PartnerControls"/>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Facet</Template>
  <TotalTime>259</TotalTime>
  <Words>1027</Words>
  <Application>Microsoft Office PowerPoint</Application>
  <PresentationFormat>Widescreen</PresentationFormat>
  <Paragraphs>79</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Trebuchet MS</vt:lpstr>
      <vt:lpstr>Wingdings 3</vt:lpstr>
      <vt:lpstr>Facet</vt:lpstr>
      <vt:lpstr>Python Skills Workshop</vt:lpstr>
      <vt:lpstr>Topic Coverage</vt:lpstr>
      <vt:lpstr>Setting Up Your Environment</vt:lpstr>
      <vt:lpstr>Setting Up Your Environment</vt:lpstr>
      <vt:lpstr>Python PEP 8 (Style Guide)</vt:lpstr>
      <vt:lpstr>Python PEP 8 (Style Guide) Continued</vt:lpstr>
      <vt:lpstr>Time To Code!</vt:lpstr>
      <vt:lpstr>Useful shortcuts while coding!</vt:lpstr>
      <vt:lpstr>BONUS?! Ace Python Coursework </vt:lpstr>
      <vt:lpstr>Extra Resources </vt:lpstr>
      <vt:lpstr>Thank you for your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Neo Hamilton 2024 (N1274561)</dc:creator>
  <cp:lastModifiedBy>Neo Hamilton 2024 (N1274561)</cp:lastModifiedBy>
  <cp:revision>2</cp:revision>
  <dcterms:created xsi:type="dcterms:W3CDTF">2025-11-26T01:49:00Z</dcterms:created>
  <dcterms:modified xsi:type="dcterms:W3CDTF">2025-11-26T06:08:32Z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0x010100E95097599262AD4DB09BF82296AD2CF6</vt:lpwstr>
  </property>
</Properties>
</file>